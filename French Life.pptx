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17"/>
  </p:notesMasterIdLst>
  <p:sldIdLst>
    <p:sldId id="256" r:id="rId2"/>
    <p:sldId id="264" r:id="rId3"/>
    <p:sldId id="257" r:id="rId4"/>
    <p:sldId id="259" r:id="rId5"/>
    <p:sldId id="258" r:id="rId6"/>
    <p:sldId id="260" r:id="rId7"/>
    <p:sldId id="261" r:id="rId8"/>
    <p:sldId id="263" r:id="rId9"/>
    <p:sldId id="262" r:id="rId10"/>
    <p:sldId id="268" r:id="rId11"/>
    <p:sldId id="265" r:id="rId12"/>
    <p:sldId id="266" r:id="rId13"/>
    <p:sldId id="267" r:id="rId14"/>
    <p:sldId id="269" r:id="rId15"/>
    <p:sldId id="270" r:id="rId1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81323" autoAdjust="0"/>
  </p:normalViewPr>
  <p:slideViewPr>
    <p:cSldViewPr snapToGrid="0">
      <p:cViewPr varScale="1">
        <p:scale>
          <a:sx n="56" d="100"/>
          <a:sy n="56" d="100"/>
        </p:scale>
        <p:origin x="129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7DBF58-7A7A-478F-BC98-FC3EC6E0EB83}" type="datetimeFigureOut">
              <a:rPr lang="fr-FR" smtClean="0"/>
              <a:t>24/09/2025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2413F4-9559-4CBF-98BB-890A03CC4E0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928883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97C6567-9D5A-5030-15D2-15D21DA39F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9E53D00-7257-46F4-C1D9-ED3B48D11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4C286AD-6052-5E11-7568-DB4C5B9D4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7C5C3-2A3A-40CA-9622-A716006FC274}" type="datetime1">
              <a:rPr lang="fr-FR" smtClean="0"/>
              <a:t>24/09/2025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1BF6803-29EF-E640-E070-BD046EEA6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08C2E66-E3BF-CA57-D1D2-16E96B739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C078B-2535-4C48-A1AA-8B0D6C5E24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015573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D3BD27-9536-84B4-8E2F-68C8BB56F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FFAB113-E7D7-FF70-7DC4-65C33B590C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36CF8E5-B949-388C-83AE-B0B103955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5E951-7E38-4C6D-89DF-780ECB64FB19}" type="datetime1">
              <a:rPr lang="fr-FR" smtClean="0"/>
              <a:t>24/09/2025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3DE0932-8694-CA20-6A52-E4BD2733F2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96444C3-E8FB-A13E-B445-F57C991EF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C078B-2535-4C48-A1AA-8B0D6C5E24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594377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6A96884-C9DD-819B-EB5D-B34782202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167483A-17B0-9924-82A8-3682C00A92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1900DBA-B129-F45D-46DE-844F7EE13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351E8-5427-4093-84A8-6EDF38507DFC}" type="datetime1">
              <a:rPr lang="fr-FR" smtClean="0"/>
              <a:t>24/09/2025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49E5CDE-9027-304D-2388-935AA04F3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8DC5BC5-BC97-98A0-953C-9FC42E01B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C078B-2535-4C48-A1AA-8B0D6C5E24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324512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BDBDF81-001D-394D-CADC-0CC6F8E22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FB57435-56B4-ADAF-71AA-22881CF80C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C5B8719-26CF-B977-B6EA-2765C6E3A9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BEE6E55-BB5B-356B-2C18-43C26C774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951A9-AACC-4E3C-A00A-1AFC4B9F0392}" type="datetime1">
              <a:rPr lang="fr-FR" smtClean="0"/>
              <a:t>24/09/2025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4A9CBC7-C0DC-F3E0-C3C5-4D610302F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CC83FC5-B38D-B59D-4DD5-5F9AC8932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C078B-2535-4C48-A1AA-8B0D6C5E24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171296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65BDD68-9502-8762-655D-B90284BBD9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EEC1AE6-A41F-0F5D-CB61-6C08584A39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8D87F85-ED19-97DF-3692-1376638820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CCABBE0-86A9-8FE4-5302-3D97C22134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FDCC7990-E049-C709-F6A7-BE6DBA6043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523FCDB4-83E6-083D-F8C9-73DB14CE2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F2496D-F968-480F-961F-29757ADCF3A0}" type="datetime1">
              <a:rPr lang="fr-FR" smtClean="0"/>
              <a:t>24/09/2025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9635A700-E22C-74B0-9365-6703F760E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729B703F-C1D4-7D30-E207-1D761E43B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C078B-2535-4C48-A1AA-8B0D6C5E24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26897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0440933-975B-1301-E03C-EF77520EE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2B50C511-E66A-34EA-C468-2F7F805AF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778B0-DBFB-4B0A-B036-906F2AA29A65}" type="datetime1">
              <a:rPr lang="fr-FR" smtClean="0"/>
              <a:t>24/09/2025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DEA8700-C05F-21BB-8863-259F2C030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C4B5261-E9E2-715E-254F-DC3EFB762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C078B-2535-4C48-A1AA-8B0D6C5E24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697630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D30F306E-7272-4EA2-DD6B-78D23BFD2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B963E-5085-495D-AA86-16D28E359E26}" type="datetime1">
              <a:rPr lang="fr-FR" smtClean="0"/>
              <a:t>24/09/2025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DA220C91-1865-990C-D0EA-67BD82D58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D5BFAFF-A45B-139D-C198-CD3D7DF48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C078B-2535-4C48-A1AA-8B0D6C5E24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191549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2DD030B-10B0-AB5D-BF46-E20D24045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7C32A26-71C7-D914-AD04-F819E5DF44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1E0B8C2-080F-C5C1-98EB-9E026CF781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6ED62B6-9EE9-8387-C877-7B3CDBC34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693B0-F0A5-4881-80FE-580EB17C7D86}" type="datetime1">
              <a:rPr lang="fr-FR" smtClean="0"/>
              <a:t>24/09/2025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812F41E-8379-04E9-1C04-593A67E4A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99379C1-2686-9371-64FD-9FCEB3977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C078B-2535-4C48-A1AA-8B0D6C5E24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777894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F8B9AF5-5CC3-1D46-0A4E-3DFC5AD9C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797B9919-F00E-345F-1A17-E5485EE6A4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AC55559-8877-3299-9652-DE1D7BB775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F796CF7-7510-FF3F-4685-1EB7E0992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CB2EC-8EF6-4A2E-B8B1-65BA2D705D5D}" type="datetime1">
              <a:rPr lang="fr-FR" smtClean="0"/>
              <a:t>24/09/2025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E8A2498-712F-2EB0-0069-879EC5D34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150F72D-C8EE-1AA4-2EC2-15603ACCF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C078B-2535-4C48-A1AA-8B0D6C5E24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09744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9EB183C-1BA6-BC63-08D3-355436B94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78B7875-4C21-B1AD-27E2-EDE6372FF3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31B5BF3-B041-1765-2F94-41BA45DA0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461D5-36F7-4C0E-A8B4-60805D363D55}" type="datetime1">
              <a:rPr lang="fr-FR" smtClean="0"/>
              <a:t>24/09/2025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DF91CCD-68C0-F235-6DB3-88A62A271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FCF3D1A-3BE8-32FE-3951-0002DF518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C078B-2535-4C48-A1AA-8B0D6C5E24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083021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D853D492-81BA-0DD6-CC0D-7C2709CB94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69FFCB1-CBA3-8546-B6D9-338D13EC3B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D81F1A3-A25D-9348-2123-44B702041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47079-EDFB-4D78-969D-1610841EF229}" type="datetime1">
              <a:rPr lang="fr-FR" smtClean="0"/>
              <a:t>24/09/2025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BC2E70B-1181-6AE0-BFBA-077140A06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2410DE9-5ECB-D8EF-D330-FE713465A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C078B-2535-4C48-A1AA-8B0D6C5E24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326855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51C961E4-7B4C-88C4-EB29-E55C4F5679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306E52A-94BD-6DB5-B3B4-4AE48E20F1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BBBC76C-C0B3-DCE7-1767-557A6A68FB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7D69B7-573E-4272-9A66-624C5C82F33C}" type="datetime1">
              <a:rPr lang="fr-FR" smtClean="0"/>
              <a:t>24/09/2025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4E12044-9C34-E1BD-6749-72BE7D8FFD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009F2B4-5C6A-1C63-2D30-B5D9C29A32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6C078B-2535-4C48-A1AA-8B0D6C5E24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209215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hyperlink" Target="mailto:amelia.rucart@lecnam.net" TargetMode="External"/><Relationship Id="rId4" Type="http://schemas.openxmlformats.org/officeDocument/2006/relationships/hyperlink" Target="https://www.campusfrance.org/fr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nam.eu/site-en/" TargetMode="External"/><Relationship Id="rId2" Type="http://schemas.openxmlformats.org/officeDocument/2006/relationships/hyperlink" Target="https://presentation.cnam.fr/presentation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presentation.cnam.fr/adresses-et-plans-d-acces/" TargetMode="External"/><Relationship Id="rId5" Type="http://schemas.openxmlformats.org/officeDocument/2006/relationships/hyperlink" Target="https://www.cnam.eu/maps-and-contacts/" TargetMode="External"/><Relationship Id="rId4" Type="http://schemas.openxmlformats.org/officeDocument/2006/relationships/hyperlink" Target="https://www.cnam.fr/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langues.cnam.fr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pi.fr/la-bpi-demenage/" TargetMode="External"/><Relationship Id="rId2" Type="http://schemas.openxmlformats.org/officeDocument/2006/relationships/hyperlink" Target="https://bibliotheques.cnam.fr/opac/article/les-bibliotheques/1-bibliotheques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bibliotheques.paris.fr/la-liste-des-bibliotheques.aspx" TargetMode="External"/><Relationship Id="rId5" Type="http://schemas.openxmlformats.org/officeDocument/2006/relationships/hyperlink" Target="https://www.bnf.fr/fr" TargetMode="External"/><Relationship Id="rId4" Type="http://schemas.openxmlformats.org/officeDocument/2006/relationships/hyperlink" Target="https://agenda.bpi.fr/thematique/langues/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usee-orsay.fr/fr" TargetMode="External"/><Relationship Id="rId2" Type="http://schemas.openxmlformats.org/officeDocument/2006/relationships/hyperlink" Target="https://www.louvre.fr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chateauversailles.fr/" TargetMode="External"/><Relationship Id="rId4" Type="http://schemas.openxmlformats.org/officeDocument/2006/relationships/hyperlink" Target="https://www.parismusees.paris.fr/fr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iup.fr/demander-hebergement/" TargetMode="External"/><Relationship Id="rId2" Type="http://schemas.openxmlformats.org/officeDocument/2006/relationships/hyperlink" Target="https://trouverunlogement.lescrous.fr/tools/41/search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caf.fr/" TargetMode="External"/><Relationship Id="rId4" Type="http://schemas.openxmlformats.org/officeDocument/2006/relationships/hyperlink" Target="https://www.cnam.eu/student-accommodation/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meli.fr/assure/english-pages" TargetMode="External"/><Relationship Id="rId2" Type="http://schemas.openxmlformats.org/officeDocument/2006/relationships/hyperlink" Target="https://www.ameli.fr/assure/droits-demarches/europe-international/protection-sociale-france/vous-venez-etudier-en-france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ledefrance-mobilites.fr/images/portail-idfm/ZsdJ20aF0TcGJQtP_SITE_1360_largeur_imagearticle%402x.png?auto=compress" TargetMode="External"/><Relationship Id="rId2" Type="http://schemas.openxmlformats.org/officeDocument/2006/relationships/hyperlink" Target="https://www.iledefrance-mobilites.fr/en/imagine-r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iledefrance-mobilites.fr/je-gere-ma-carte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ffi.fr/cinema" TargetMode="External"/><Relationship Id="rId2" Type="http://schemas.openxmlformats.org/officeDocument/2006/relationships/hyperlink" Target="https://philharmoniedeparis.fr/fr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france.fr/en/article/emergency-numbers-to-know/#in-an-emergency-1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19D32F93-50AC-4C46-A5DB-291C60DDB7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 5" descr="Une image contenant Police, Graphique, logo, rouge&#10;&#10;Le contenu généré par l’IA peut être incorrect.">
            <a:extLst>
              <a:ext uri="{FF2B5EF4-FFF2-40B4-BE49-F238E27FC236}">
                <a16:creationId xmlns:a16="http://schemas.microsoft.com/office/drawing/2014/main" id="{4E03F483-37AC-13DC-177E-4A4A44194C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6558" y="1148225"/>
            <a:ext cx="3510140" cy="1117877"/>
          </a:xfrm>
          <a:prstGeom prst="rect">
            <a:avLst/>
          </a:prstGeom>
        </p:spPr>
      </p:pic>
      <p:pic>
        <p:nvPicPr>
          <p:cNvPr id="7" name="Image 6" descr="Une image contenant plein air, ciel, bâtiment, ville&#10;&#10;Le contenu généré par l’IA peut être incorrect.">
            <a:extLst>
              <a:ext uri="{FF2B5EF4-FFF2-40B4-BE49-F238E27FC236}">
                <a16:creationId xmlns:a16="http://schemas.microsoft.com/office/drawing/2014/main" id="{E83B4A60-6D63-2DEF-6818-6517623331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6558" y="2644134"/>
            <a:ext cx="3613444" cy="2376440"/>
          </a:xfrm>
          <a:prstGeom prst="rect">
            <a:avLst/>
          </a:prstGeom>
        </p:spPr>
      </p:pic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B9A1D9BC-1455-4308-9ABD-A3F8EDB67A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6068" y="320442"/>
            <a:ext cx="6572492" cy="6212748"/>
          </a:xfrm>
          <a:custGeom>
            <a:avLst/>
            <a:gdLst>
              <a:gd name="connsiteX0" fmla="*/ 0 w 6572492"/>
              <a:gd name="connsiteY0" fmla="*/ 0 h 6212748"/>
              <a:gd name="connsiteX1" fmla="*/ 2248593 w 6572492"/>
              <a:gd name="connsiteY1" fmla="*/ 0 h 6212748"/>
              <a:gd name="connsiteX2" fmla="*/ 2694770 w 6572492"/>
              <a:gd name="connsiteY2" fmla="*/ 0 h 6212748"/>
              <a:gd name="connsiteX3" fmla="*/ 2991094 w 6572492"/>
              <a:gd name="connsiteY3" fmla="*/ 0 h 6212748"/>
              <a:gd name="connsiteX4" fmla="*/ 6572492 w 6572492"/>
              <a:gd name="connsiteY4" fmla="*/ 0 h 6212748"/>
              <a:gd name="connsiteX5" fmla="*/ 6572492 w 6572492"/>
              <a:gd name="connsiteY5" fmla="*/ 2864954 h 6212748"/>
              <a:gd name="connsiteX6" fmla="*/ 3129047 w 6572492"/>
              <a:gd name="connsiteY6" fmla="*/ 6212748 h 6212748"/>
              <a:gd name="connsiteX7" fmla="*/ 2694770 w 6572492"/>
              <a:gd name="connsiteY7" fmla="*/ 6212748 h 6212748"/>
              <a:gd name="connsiteX8" fmla="*/ 2248593 w 6572492"/>
              <a:gd name="connsiteY8" fmla="*/ 6212748 h 6212748"/>
              <a:gd name="connsiteX9" fmla="*/ 0 w 6572492"/>
              <a:gd name="connsiteY9" fmla="*/ 6212748 h 621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572492" h="6212748">
                <a:moveTo>
                  <a:pt x="0" y="0"/>
                </a:moveTo>
                <a:lnTo>
                  <a:pt x="2248593" y="0"/>
                </a:lnTo>
                <a:lnTo>
                  <a:pt x="2694770" y="0"/>
                </a:lnTo>
                <a:lnTo>
                  <a:pt x="2991094" y="0"/>
                </a:lnTo>
                <a:lnTo>
                  <a:pt x="6572492" y="0"/>
                </a:lnTo>
                <a:lnTo>
                  <a:pt x="6572492" y="2864954"/>
                </a:lnTo>
                <a:lnTo>
                  <a:pt x="3129047" y="6212748"/>
                </a:lnTo>
                <a:lnTo>
                  <a:pt x="2694770" y="6212748"/>
                </a:lnTo>
                <a:lnTo>
                  <a:pt x="2248593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Right Triangle 25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A62647B-1222-407C-8740-5A497612B1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2BB2344-9867-BA9D-3B19-7CF7A68C39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33442" y="626843"/>
            <a:ext cx="6376011" cy="1639259"/>
          </a:xfrm>
        </p:spPr>
        <p:txBody>
          <a:bodyPr anchor="b">
            <a:normAutofit fontScale="90000"/>
          </a:bodyPr>
          <a:lstStyle/>
          <a:p>
            <a:r>
              <a:rPr lang="fr-FR" sz="4000" b="1" dirty="0"/>
              <a:t>French Life</a:t>
            </a:r>
            <a:br>
              <a:rPr lang="fr-FR" sz="4500" b="1" dirty="0"/>
            </a:br>
            <a:br>
              <a:rPr lang="fr-FR" sz="3600" b="1" dirty="0"/>
            </a:br>
            <a:r>
              <a:rPr lang="en-US" sz="2200" dirty="0"/>
              <a:t>International Master’s Students at the </a:t>
            </a:r>
            <a:r>
              <a:rPr lang="en-US" sz="2200" dirty="0" err="1"/>
              <a:t>Cnam</a:t>
            </a:r>
            <a:br>
              <a:rPr lang="en-US" sz="3600" dirty="0"/>
            </a:br>
            <a:r>
              <a:rPr lang="en-US" sz="2400" dirty="0"/>
              <a:t>academic, cultural and social life</a:t>
            </a:r>
            <a:endParaRPr lang="fr-FR" sz="2400" b="1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76B0900-751D-FB98-3779-975E7B7AFE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72628" y="2586544"/>
            <a:ext cx="6376011" cy="3279417"/>
          </a:xfrm>
        </p:spPr>
        <p:txBody>
          <a:bodyPr anchor="t">
            <a:normAutofit lnSpcReduction="10000"/>
          </a:bodyPr>
          <a:lstStyle/>
          <a:p>
            <a:r>
              <a:rPr lang="fr-FR" b="1" dirty="0"/>
              <a:t>	</a:t>
            </a:r>
            <a:r>
              <a:rPr lang="fr-FR" sz="2800" b="1" dirty="0" err="1"/>
              <a:t>Welcome</a:t>
            </a:r>
            <a:r>
              <a:rPr lang="fr-FR" sz="2800" b="1" dirty="0"/>
              <a:t> to France / Paris!</a:t>
            </a:r>
          </a:p>
          <a:p>
            <a:r>
              <a:rPr lang="fr-FR" sz="2200" dirty="0">
                <a:hlinkClick r:id="rId4"/>
              </a:rPr>
              <a:t>Étudiants | Campus France : étudier en France</a:t>
            </a:r>
            <a:endParaRPr lang="fr-FR" sz="2200" b="1" dirty="0"/>
          </a:p>
          <a:p>
            <a:endParaRPr lang="fr-FR" sz="2000" b="1" dirty="0"/>
          </a:p>
          <a:p>
            <a:r>
              <a:rPr lang="fr-FR" sz="2000" b="1" dirty="0"/>
              <a:t>Amelia Rucart Rus</a:t>
            </a:r>
          </a:p>
          <a:p>
            <a:r>
              <a:rPr lang="fr-FR" sz="2000" b="1" dirty="0"/>
              <a:t>	</a:t>
            </a:r>
          </a:p>
          <a:p>
            <a:r>
              <a:rPr lang="fr-FR" sz="2000" dirty="0"/>
              <a:t>English &amp; FLE Teacher</a:t>
            </a:r>
          </a:p>
          <a:p>
            <a:r>
              <a:rPr lang="fr-FR" sz="2000" dirty="0" err="1"/>
              <a:t>Phd</a:t>
            </a:r>
            <a:r>
              <a:rPr lang="fr-FR" sz="2000" dirty="0"/>
              <a:t> in English </a:t>
            </a:r>
            <a:r>
              <a:rPr lang="fr-FR" sz="2000" dirty="0" err="1"/>
              <a:t>studies</a:t>
            </a:r>
            <a:endParaRPr lang="fr-FR" sz="2000" dirty="0"/>
          </a:p>
          <a:p>
            <a:r>
              <a:rPr lang="fr-FR" sz="2000" dirty="0">
                <a:hlinkClick r:id="rId5"/>
              </a:rPr>
              <a:t>amelia.rucart@lecnam.net</a:t>
            </a:r>
            <a:endParaRPr lang="fr-FR" sz="2000" dirty="0"/>
          </a:p>
          <a:p>
            <a:pPr algn="l"/>
            <a:endParaRPr lang="fr-FR" sz="2000" b="1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C2EEBA1-7EE3-C965-7C79-B86BBE80C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C078B-2535-4C48-A1AA-8B0D6C5E24B8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07792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BD437D9-A9BF-5DBF-75D5-316A37624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000" dirty="0"/>
              <a:t>Life in France</a:t>
            </a:r>
            <a:br>
              <a:rPr lang="fr-FR" sz="3200" dirty="0"/>
            </a:br>
            <a:r>
              <a:rPr lang="fr-FR" sz="3200" dirty="0"/>
              <a:t>Plan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F263451-513F-9ABB-004F-864CFEC541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3743"/>
            <a:ext cx="10515600" cy="5009132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fr-FR" dirty="0"/>
              <a:t>French Life</a:t>
            </a:r>
          </a:p>
          <a:p>
            <a:pPr marL="0" indent="0">
              <a:buNone/>
            </a:pPr>
            <a:r>
              <a:rPr lang="fr-FR" sz="1800" dirty="0"/>
              <a:t>Introduction</a:t>
            </a:r>
          </a:p>
          <a:p>
            <a:pPr marL="0" indent="0">
              <a:buNone/>
            </a:pPr>
            <a:r>
              <a:rPr lang="fr-FR" dirty="0"/>
              <a:t>The Cnam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fr-FR" sz="1800" dirty="0"/>
              <a:t>Short </a:t>
            </a:r>
            <a:r>
              <a:rPr lang="fr-FR" sz="1800" dirty="0" err="1"/>
              <a:t>presentation</a:t>
            </a:r>
            <a:endParaRPr lang="fr-FR" sz="1800" dirty="0"/>
          </a:p>
          <a:p>
            <a:pPr marL="0" indent="0">
              <a:lnSpc>
                <a:spcPct val="100000"/>
              </a:lnSpc>
              <a:buNone/>
            </a:pPr>
            <a:r>
              <a:rPr lang="fr-FR" sz="1800" dirty="0" err="1"/>
              <a:t>Languages</a:t>
            </a:r>
            <a:endParaRPr lang="fr-FR" sz="1800" dirty="0"/>
          </a:p>
          <a:p>
            <a:pPr marL="0" indent="0">
              <a:lnSpc>
                <a:spcPct val="100000"/>
              </a:lnSpc>
              <a:buNone/>
            </a:pPr>
            <a:r>
              <a:rPr lang="fr-FR" dirty="0"/>
              <a:t>Life in Paris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fr-FR" dirty="0" err="1"/>
              <a:t>Libraries</a:t>
            </a:r>
            <a:br>
              <a:rPr lang="fr-FR" dirty="0"/>
            </a:br>
            <a:r>
              <a:rPr lang="fr-FR" dirty="0" err="1"/>
              <a:t>Museums</a:t>
            </a:r>
            <a:endParaRPr lang="fr-FR" dirty="0"/>
          </a:p>
          <a:p>
            <a:pPr marL="0" indent="0">
              <a:lnSpc>
                <a:spcPct val="100000"/>
              </a:lnSpc>
              <a:buNone/>
            </a:pPr>
            <a:r>
              <a:rPr lang="fr-FR" dirty="0" err="1"/>
              <a:t>Accomodation</a:t>
            </a:r>
            <a:r>
              <a:rPr lang="fr-FR" dirty="0"/>
              <a:t> (</a:t>
            </a:r>
            <a:r>
              <a:rPr lang="fr-FR" dirty="0" err="1"/>
              <a:t>Housing</a:t>
            </a:r>
            <a:r>
              <a:rPr lang="fr-FR" dirty="0"/>
              <a:t>) &amp; </a:t>
            </a:r>
            <a:r>
              <a:rPr lang="fr-FR" dirty="0" err="1"/>
              <a:t>Costs</a:t>
            </a:r>
            <a:endParaRPr lang="fr-FR" dirty="0"/>
          </a:p>
          <a:p>
            <a:pPr marL="0" indent="0">
              <a:lnSpc>
                <a:spcPct val="100000"/>
              </a:lnSpc>
              <a:buNone/>
            </a:pPr>
            <a:r>
              <a:rPr lang="fr-FR" dirty="0"/>
              <a:t>Healthcare &amp; Support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fr-FR" dirty="0"/>
              <a:t>Transport &amp; Discounts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fr-FR" dirty="0"/>
              <a:t>Social Life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fr-FR" dirty="0"/>
              <a:t>Cultural Life (</a:t>
            </a:r>
            <a:r>
              <a:rPr lang="fr-FR" dirty="0" err="1"/>
              <a:t>without</a:t>
            </a:r>
            <a:r>
              <a:rPr lang="fr-FR" dirty="0"/>
              <a:t> castels &amp; </a:t>
            </a:r>
            <a:r>
              <a:rPr lang="fr-FR" dirty="0" err="1"/>
              <a:t>museums</a:t>
            </a:r>
            <a:r>
              <a:rPr lang="fr-FR" dirty="0"/>
              <a:t>)</a:t>
            </a:r>
            <a:br>
              <a:rPr lang="fr-FR" dirty="0"/>
            </a:br>
            <a:endParaRPr lang="fr-FR" dirty="0"/>
          </a:p>
          <a:p>
            <a:pPr marL="0" indent="0">
              <a:buNone/>
            </a:pPr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6794A4B-A7EC-E340-7BD1-4F1ED67D8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C078B-2535-4C48-A1AA-8B0D6C5E24B8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300297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FB070C3-5F91-C657-9ECF-FB215DCC53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0121" y="517585"/>
            <a:ext cx="9244491" cy="2053087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The Cnam</a:t>
            </a:r>
            <a:br>
              <a:rPr lang="fr-FR" dirty="0"/>
            </a:br>
            <a:r>
              <a:rPr lang="fr-FR" sz="3600" dirty="0"/>
              <a:t>Short </a:t>
            </a:r>
            <a:r>
              <a:rPr lang="fr-FR" sz="3600" dirty="0" err="1"/>
              <a:t>presentation</a:t>
            </a:r>
            <a:br>
              <a:rPr lang="fr-FR" sz="3600" dirty="0"/>
            </a:br>
            <a:r>
              <a:rPr lang="fr-FR" sz="2000" dirty="0">
                <a:hlinkClick r:id="rId2"/>
              </a:rPr>
              <a:t>Accueil | Présentation | Cnam</a:t>
            </a:r>
            <a:br>
              <a:rPr lang="fr-FR" dirty="0"/>
            </a:br>
            <a:r>
              <a:rPr lang="fr-FR" sz="2000" dirty="0">
                <a:hlinkClick r:id="rId3"/>
              </a:rPr>
              <a:t>Conservatoire national des arts et métiers | </a:t>
            </a:r>
            <a:r>
              <a:rPr lang="fr-FR" sz="2000" dirty="0" err="1">
                <a:hlinkClick r:id="rId3"/>
              </a:rPr>
              <a:t>Homepage</a:t>
            </a:r>
            <a:r>
              <a:rPr lang="fr-FR" sz="2000" dirty="0">
                <a:hlinkClick r:id="rId3"/>
              </a:rPr>
              <a:t> | Cnam portal | Cnam</a:t>
            </a:r>
            <a:br>
              <a:rPr lang="fr-FR" sz="2000" dirty="0"/>
            </a:br>
            <a:r>
              <a:rPr lang="fr-FR" sz="2000" dirty="0">
                <a:hlinkClick r:id="rId4"/>
              </a:rPr>
              <a:t>Conservatoire national des arts et métiers | Accueil | Portail national | Cnam</a:t>
            </a:r>
            <a:br>
              <a:rPr lang="fr-FR" dirty="0"/>
            </a:br>
            <a:br>
              <a:rPr lang="fr-FR" dirty="0"/>
            </a:br>
            <a:endParaRPr lang="fr-FR" dirty="0"/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260A8C8F-30D0-A08D-D588-D064B4EC3C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60121" y="1949570"/>
            <a:ext cx="9244491" cy="3961652"/>
          </a:xfrm>
        </p:spPr>
        <p:txBody>
          <a:bodyPr>
            <a:normAutofit fontScale="92500" lnSpcReduction="10000"/>
          </a:bodyPr>
          <a:lstStyle/>
          <a:p>
            <a:r>
              <a:rPr lang="fr-FR" sz="2400" dirty="0" err="1"/>
              <a:t>Located</a:t>
            </a:r>
            <a:r>
              <a:rPr lang="fr-FR" sz="2400" dirty="0"/>
              <a:t> in the </a:t>
            </a:r>
            <a:r>
              <a:rPr lang="fr-FR" sz="2400" dirty="0" err="1"/>
              <a:t>heart</a:t>
            </a:r>
            <a:r>
              <a:rPr lang="fr-FR" sz="2400" dirty="0"/>
              <a:t> of Paris and in </a:t>
            </a:r>
            <a:r>
              <a:rPr lang="fr-FR" sz="2400" dirty="0" err="1"/>
              <a:t>two</a:t>
            </a:r>
            <a:r>
              <a:rPr lang="fr-FR" sz="2400" dirty="0"/>
              <a:t> </a:t>
            </a:r>
            <a:r>
              <a:rPr lang="fr-FR" sz="2400" dirty="0" err="1"/>
              <a:t>other</a:t>
            </a:r>
            <a:r>
              <a:rPr lang="fr-FR" sz="2400" dirty="0"/>
              <a:t> </a:t>
            </a:r>
            <a:r>
              <a:rPr lang="fr-FR" sz="2400" dirty="0" err="1"/>
              <a:t>different</a:t>
            </a:r>
            <a:r>
              <a:rPr lang="fr-FR" sz="2400" dirty="0"/>
              <a:t> locations: </a:t>
            </a:r>
          </a:p>
          <a:p>
            <a:pPr marL="0" indent="0">
              <a:buNone/>
            </a:pPr>
            <a:endParaRPr lang="fr-FR" sz="2400" dirty="0"/>
          </a:p>
          <a:p>
            <a:pPr lvl="1"/>
            <a:r>
              <a:rPr lang="fr-FR" sz="2000" dirty="0"/>
              <a:t>Arts &amp; Métiers / Marais district /</a:t>
            </a:r>
            <a:r>
              <a:rPr lang="fr-FR" sz="2000" dirty="0" err="1"/>
              <a:t>Republique</a:t>
            </a:r>
            <a:r>
              <a:rPr lang="fr-FR" sz="2000" dirty="0"/>
              <a:t> </a:t>
            </a:r>
            <a:r>
              <a:rPr lang="fr-FR" sz="2000" dirty="0">
                <a:sym typeface="Wingdings" panose="05000000000000000000" pitchFamily="2" charset="2"/>
              </a:rPr>
              <a:t></a:t>
            </a:r>
            <a:r>
              <a:rPr lang="fr-FR" sz="2000" dirty="0"/>
              <a:t>St Martin and Conté</a:t>
            </a:r>
          </a:p>
          <a:p>
            <a:pPr lvl="1"/>
            <a:r>
              <a:rPr lang="fr-FR" sz="2000" dirty="0"/>
              <a:t>Guy Lussac (in the 5th district of Paris)</a:t>
            </a:r>
          </a:p>
          <a:p>
            <a:pPr lvl="1"/>
            <a:r>
              <a:rPr lang="fr-FR" sz="2000" dirty="0"/>
              <a:t>St Denis (rue Landy in </a:t>
            </a:r>
            <a:r>
              <a:rPr lang="fr-FR" sz="2000" dirty="0" err="1"/>
              <a:t>suburbs</a:t>
            </a:r>
            <a:r>
              <a:rPr lang="fr-FR" sz="2000" dirty="0"/>
              <a:t>)</a:t>
            </a:r>
          </a:p>
          <a:p>
            <a:pPr marL="457200" lvl="1" indent="0">
              <a:buNone/>
            </a:pPr>
            <a:endParaRPr lang="fr-FR" sz="2000" dirty="0"/>
          </a:p>
          <a:p>
            <a:r>
              <a:rPr lang="fr-FR" sz="2400" dirty="0"/>
              <a:t>Conférences/Seminars/Courses </a:t>
            </a:r>
            <a:r>
              <a:rPr lang="fr-FR" sz="2400" dirty="0" err="1"/>
              <a:t>rooms</a:t>
            </a:r>
            <a:endParaRPr lang="fr-FR" sz="2400" dirty="0"/>
          </a:p>
          <a:p>
            <a:pPr marL="0" indent="0">
              <a:buNone/>
            </a:pPr>
            <a:r>
              <a:rPr lang="pt-BR" sz="2400" dirty="0">
                <a:hlinkClick r:id="rId5"/>
              </a:rPr>
              <a:t>180 academic centres | Cnam portal | Cnam</a:t>
            </a:r>
            <a:endParaRPr lang="pt-BR" sz="2400" dirty="0"/>
          </a:p>
          <a:p>
            <a:pPr marL="0" indent="0">
              <a:buNone/>
            </a:pPr>
            <a:r>
              <a:rPr lang="fr-FR" sz="2400" dirty="0">
                <a:hlinkClick r:id="rId6"/>
              </a:rPr>
              <a:t>Adresses et plans | Présentation | Cnam</a:t>
            </a:r>
            <a:endParaRPr lang="pt-BR" sz="2400" dirty="0"/>
          </a:p>
          <a:p>
            <a:pPr marL="0" indent="0">
              <a:buNone/>
            </a:pPr>
            <a:endParaRPr lang="fr-FR" sz="2400" dirty="0"/>
          </a:p>
          <a:p>
            <a:r>
              <a:rPr lang="en-US" sz="2400" dirty="0"/>
              <a:t>Strong links with industry &amp; research</a:t>
            </a:r>
            <a:endParaRPr lang="fr-FR" sz="240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5ADA1B9-17CB-84CA-07B1-76BC15020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C078B-2535-4C48-A1AA-8B0D6C5E24B8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01204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27EB99A-DD92-FA57-5094-BFEE37CAB8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/>
          <a:lstStyle/>
          <a:p>
            <a:r>
              <a:rPr lang="fr-FR" dirty="0"/>
              <a:t> </a:t>
            </a:r>
            <a:br>
              <a:rPr lang="fr-FR" dirty="0"/>
            </a:b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1A6403E-D44D-A347-F29A-FA4C0157EE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38355"/>
            <a:ext cx="10515600" cy="5538608"/>
          </a:xfrm>
        </p:spPr>
        <p:txBody>
          <a:bodyPr/>
          <a:lstStyle/>
          <a:p>
            <a:pPr marL="0" indent="0" algn="ctr">
              <a:buNone/>
            </a:pPr>
            <a:r>
              <a:rPr lang="fr-FR" sz="4000" dirty="0"/>
              <a:t>The Cnam</a:t>
            </a:r>
          </a:p>
          <a:p>
            <a:pPr marL="0" indent="0">
              <a:buNone/>
            </a:pPr>
            <a:r>
              <a:rPr lang="fr-FR" dirty="0" err="1"/>
              <a:t>Languages</a:t>
            </a:r>
            <a:r>
              <a:rPr lang="fr-FR" dirty="0"/>
              <a:t> (CLE </a:t>
            </a:r>
            <a:r>
              <a:rPr lang="fr-FR" dirty="0" err="1"/>
              <a:t>Departement</a:t>
            </a:r>
            <a:r>
              <a:rPr lang="fr-FR" dirty="0"/>
              <a:t>): 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>
                <a:hlinkClick r:id="rId2"/>
              </a:rPr>
              <a:t>Formations en anglais et en FLE - Langues étrangères | Communication en langues étrangères | Cnam</a:t>
            </a:r>
            <a:endParaRPr lang="fr-FR" dirty="0"/>
          </a:p>
          <a:p>
            <a:pPr marL="0" indent="0">
              <a:buNone/>
            </a:pPr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98C0AFD-7BE9-E4C7-BB69-50B35195D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C078B-2535-4C48-A1AA-8B0D6C5E24B8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804929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63EBDEA-2414-52A7-AE35-C3F8D236D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Life in Paris</a:t>
            </a:r>
            <a:br>
              <a:rPr lang="fr-FR" dirty="0"/>
            </a:br>
            <a:r>
              <a:rPr lang="fr-FR" sz="3200" dirty="0" err="1"/>
              <a:t>Libraries</a:t>
            </a:r>
            <a:endParaRPr lang="fr-FR" sz="320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246A870-0E67-D978-B7E8-7CCC95DCF1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8249"/>
            <a:ext cx="10515600" cy="465871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fr-FR" dirty="0"/>
              <a:t>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dirty="0"/>
              <a:t>	the Cnam:</a:t>
            </a:r>
          </a:p>
          <a:p>
            <a:pPr marL="0" indent="0">
              <a:buNone/>
            </a:pPr>
            <a:r>
              <a:rPr lang="fr-FR" dirty="0">
                <a:hlinkClick r:id="rId2"/>
              </a:rPr>
              <a:t>Cnam - Bibliothèques | Les bibliothèques</a:t>
            </a:r>
            <a:endParaRPr lang="fr-FR" dirty="0"/>
          </a:p>
          <a:p>
            <a:pPr>
              <a:buFont typeface="Wingdings" panose="05000000000000000000" pitchFamily="2" charset="2"/>
              <a:buChar char="Ø"/>
            </a:pPr>
            <a:r>
              <a:rPr lang="fr-FR" dirty="0"/>
              <a:t>	Bibliothèque publique d’information (</a:t>
            </a:r>
            <a:r>
              <a:rPr lang="fr-FR" dirty="0" err="1"/>
              <a:t>Bpi</a:t>
            </a:r>
            <a:r>
              <a:rPr lang="fr-FR" dirty="0"/>
              <a:t>), Centre Pompidou: </a:t>
            </a:r>
          </a:p>
          <a:p>
            <a:pPr marL="0" indent="0">
              <a:buNone/>
            </a:pPr>
            <a:r>
              <a:rPr lang="fr-FR" dirty="0">
                <a:hlinkClick r:id="rId3"/>
              </a:rPr>
              <a:t>Découvrez la </a:t>
            </a:r>
            <a:r>
              <a:rPr lang="fr-FR" dirty="0" err="1">
                <a:hlinkClick r:id="rId3"/>
              </a:rPr>
              <a:t>Bpi</a:t>
            </a:r>
            <a:r>
              <a:rPr lang="fr-FR" dirty="0">
                <a:hlinkClick r:id="rId3"/>
              </a:rPr>
              <a:t> et ses nouveaux espaces ! - Bibliothèque publique d'information | </a:t>
            </a:r>
            <a:r>
              <a:rPr lang="fr-FR" dirty="0" err="1">
                <a:hlinkClick r:id="rId3"/>
              </a:rPr>
              <a:t>Bpi</a:t>
            </a:r>
            <a:endParaRPr lang="fr-FR" dirty="0"/>
          </a:p>
          <a:p>
            <a:pPr lvl="2">
              <a:buFont typeface="Wingdings" panose="05000000000000000000" pitchFamily="2" charset="2"/>
              <a:buChar char="ü"/>
            </a:pPr>
            <a:r>
              <a:rPr lang="fr-FR" dirty="0" err="1"/>
              <a:t>language</a:t>
            </a:r>
            <a:r>
              <a:rPr lang="fr-FR" dirty="0"/>
              <a:t> (FLE) workshops:</a:t>
            </a:r>
          </a:p>
          <a:p>
            <a:pPr marL="0" indent="0">
              <a:buNone/>
            </a:pPr>
            <a:r>
              <a:rPr lang="fr-FR" dirty="0">
                <a:hlinkClick r:id="rId4"/>
              </a:rPr>
              <a:t>Langues Archives - Agenda </a:t>
            </a:r>
            <a:r>
              <a:rPr lang="fr-FR" dirty="0" err="1">
                <a:hlinkClick r:id="rId4"/>
              </a:rPr>
              <a:t>Bpi</a:t>
            </a:r>
            <a:endParaRPr lang="fr-FR" dirty="0"/>
          </a:p>
          <a:p>
            <a:pPr>
              <a:buFont typeface="Wingdings" panose="05000000000000000000" pitchFamily="2" charset="2"/>
              <a:buChar char="Ø"/>
            </a:pPr>
            <a:r>
              <a:rPr lang="fr-FR" dirty="0"/>
              <a:t>National Library</a:t>
            </a:r>
          </a:p>
          <a:p>
            <a:pPr marL="0" indent="0">
              <a:buNone/>
            </a:pPr>
            <a:r>
              <a:rPr lang="fr-FR" dirty="0">
                <a:hlinkClick r:id="rId5"/>
              </a:rPr>
              <a:t>Accueil | BnF – Site institutionnel</a:t>
            </a:r>
            <a:endParaRPr lang="fr-FR" dirty="0"/>
          </a:p>
          <a:p>
            <a:pPr>
              <a:buFont typeface="Wingdings" panose="05000000000000000000" pitchFamily="2" charset="2"/>
              <a:buChar char="Ø"/>
            </a:pPr>
            <a:r>
              <a:rPr lang="fr-FR" dirty="0"/>
              <a:t> 	</a:t>
            </a:r>
            <a:r>
              <a:rPr lang="fr-FR" dirty="0" err="1"/>
              <a:t>Other</a:t>
            </a:r>
            <a:r>
              <a:rPr lang="fr-FR" dirty="0"/>
              <a:t> </a:t>
            </a:r>
            <a:r>
              <a:rPr lang="fr-FR" dirty="0" err="1"/>
              <a:t>libraries</a:t>
            </a:r>
            <a:r>
              <a:rPr lang="fr-FR" dirty="0"/>
              <a:t> (Bibliothèques de la Ville de Paris)</a:t>
            </a:r>
          </a:p>
          <a:p>
            <a:pPr marL="0" indent="0">
              <a:buNone/>
            </a:pPr>
            <a:r>
              <a:rPr lang="fr-FR" dirty="0">
                <a:hlinkClick r:id="rId6"/>
              </a:rPr>
              <a:t>La liste des bibliothèques - Bibliothèques de la Ville de Paris</a:t>
            </a:r>
            <a:endParaRPr lang="fr-FR" dirty="0"/>
          </a:p>
          <a:p>
            <a:pPr marL="0" indent="0">
              <a:buNone/>
            </a:pPr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8427CF6-4FD9-CD96-B6DA-7A3F2FB70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C078B-2535-4C48-A1AA-8B0D6C5E24B8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997416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1F4850A-3E46-B96F-3BE6-DB3F190FD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Life in Paris</a:t>
            </a:r>
            <a:br>
              <a:rPr lang="fr-FR" dirty="0"/>
            </a:br>
            <a:r>
              <a:rPr lang="fr-FR" sz="3200" dirty="0" err="1"/>
              <a:t>Museums</a:t>
            </a:r>
            <a:endParaRPr lang="fr-FR" sz="320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C831022-8461-9234-9A20-A4E1B9CEBE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fr-FR" dirty="0"/>
              <a:t>Museum of the Cnam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dirty="0"/>
              <a:t>Louvre Museum</a:t>
            </a:r>
          </a:p>
          <a:p>
            <a:pPr marL="0" indent="0">
              <a:buNone/>
            </a:pPr>
            <a:r>
              <a:rPr lang="fr-FR" dirty="0">
                <a:hlinkClick r:id="rId2"/>
              </a:rPr>
              <a:t>Site officiel du musée du Louvre</a:t>
            </a:r>
            <a:endParaRPr lang="fr-FR" dirty="0"/>
          </a:p>
          <a:p>
            <a:pPr>
              <a:buFont typeface="Wingdings" panose="05000000000000000000" pitchFamily="2" charset="2"/>
              <a:buChar char="Ø"/>
            </a:pPr>
            <a:r>
              <a:rPr lang="fr-FR" dirty="0"/>
              <a:t>Orsay Museum</a:t>
            </a:r>
          </a:p>
          <a:p>
            <a:pPr marL="0" indent="0">
              <a:buNone/>
            </a:pPr>
            <a:r>
              <a:rPr lang="fr-FR" dirty="0">
                <a:hlinkClick r:id="rId3"/>
              </a:rPr>
              <a:t>Musée d'Orsay</a:t>
            </a:r>
            <a:endParaRPr lang="fr-FR" dirty="0"/>
          </a:p>
          <a:p>
            <a:pPr>
              <a:buFont typeface="Wingdings" panose="05000000000000000000" pitchFamily="2" charset="2"/>
              <a:buChar char="Ø"/>
            </a:pPr>
            <a:r>
              <a:rPr lang="fr-FR" dirty="0" err="1"/>
              <a:t>Museums</a:t>
            </a:r>
            <a:r>
              <a:rPr lang="fr-FR" dirty="0"/>
              <a:t> of City of Paris</a:t>
            </a:r>
          </a:p>
          <a:p>
            <a:pPr marL="0" indent="0">
              <a:buNone/>
            </a:pPr>
            <a:r>
              <a:rPr lang="fr-FR" dirty="0">
                <a:hlinkClick r:id="rId4"/>
              </a:rPr>
              <a:t>Accueil | Paris Musées</a:t>
            </a:r>
            <a:endParaRPr lang="fr-FR" dirty="0"/>
          </a:p>
          <a:p>
            <a:pPr>
              <a:buFont typeface="Wingdings" panose="05000000000000000000" pitchFamily="2" charset="2"/>
              <a:buChar char="Ø"/>
            </a:pPr>
            <a:r>
              <a:rPr lang="fr-FR" dirty="0"/>
              <a:t>Versailles Castel</a:t>
            </a:r>
          </a:p>
          <a:p>
            <a:pPr marL="0" indent="0">
              <a:buNone/>
            </a:pPr>
            <a:r>
              <a:rPr lang="fr-FR" dirty="0">
                <a:hlinkClick r:id="rId5"/>
              </a:rPr>
              <a:t>Château de Versailles | Site officiel</a:t>
            </a:r>
            <a:endParaRPr lang="fr-FR" dirty="0"/>
          </a:p>
          <a:p>
            <a:pPr marL="0" indent="0">
              <a:buNone/>
            </a:pPr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FBB7E17-9EAC-70F2-387F-50C94E45C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C078B-2535-4C48-A1AA-8B0D6C5E24B8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981986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BE0FA9C-C7F4-516B-1C87-5FB72DB11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1584"/>
          </a:xfrm>
        </p:spPr>
        <p:txBody>
          <a:bodyPr>
            <a:normAutofit fontScale="90000"/>
          </a:bodyPr>
          <a:lstStyle/>
          <a:p>
            <a:pPr algn="ctr"/>
            <a:r>
              <a:rPr lang="fr-FR" sz="3600" dirty="0"/>
              <a:t>Life in Paris</a:t>
            </a:r>
            <a:br>
              <a:rPr lang="fr-FR" sz="3200" dirty="0"/>
            </a:br>
            <a:r>
              <a:rPr lang="fr-FR" sz="3200" dirty="0" err="1"/>
              <a:t>Accomodation</a:t>
            </a:r>
            <a:r>
              <a:rPr lang="fr-FR" sz="3200" dirty="0"/>
              <a:t> (</a:t>
            </a:r>
            <a:r>
              <a:rPr lang="fr-FR" sz="3200" dirty="0" err="1"/>
              <a:t>Housing</a:t>
            </a:r>
            <a:r>
              <a:rPr lang="fr-FR" sz="3200" dirty="0"/>
              <a:t>) &amp; </a:t>
            </a:r>
            <a:r>
              <a:rPr lang="fr-FR" sz="3200" dirty="0" err="1"/>
              <a:t>Costs</a:t>
            </a:r>
            <a:endParaRPr lang="fr-FR" sz="320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B0B40EE-5610-F8C0-DAB8-BEBD4CFAE0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6491"/>
            <a:ext cx="10515600" cy="4710472"/>
          </a:xfrm>
        </p:spPr>
        <p:txBody>
          <a:bodyPr>
            <a:normAutofit fontScale="850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fr-FR" dirty="0"/>
              <a:t>CROUS </a:t>
            </a:r>
            <a:r>
              <a:rPr lang="fr-FR" dirty="0" err="1"/>
              <a:t>residences</a:t>
            </a:r>
            <a:r>
              <a:rPr lang="fr-FR" dirty="0"/>
              <a:t>: €350–450/</a:t>
            </a:r>
            <a:r>
              <a:rPr lang="fr-FR" dirty="0" err="1"/>
              <a:t>month</a:t>
            </a:r>
            <a:endParaRPr lang="fr-FR" dirty="0"/>
          </a:p>
          <a:p>
            <a:pPr marL="0" indent="0">
              <a:buNone/>
            </a:pPr>
            <a:r>
              <a:rPr lang="fr-FR" dirty="0">
                <a:hlinkClick r:id="rId2"/>
              </a:rPr>
              <a:t>Mon logement pour cette année 2025‑2026 - résultats de recherche - page 1 sur 2 - Trouver un logement dans une résidence universitaire</a:t>
            </a:r>
            <a:endParaRPr lang="fr-FR" dirty="0"/>
          </a:p>
          <a:p>
            <a:pPr>
              <a:buFont typeface="Wingdings" panose="05000000000000000000" pitchFamily="2" charset="2"/>
              <a:buChar char="Ø"/>
            </a:pPr>
            <a:r>
              <a:rPr lang="fr-FR" dirty="0"/>
              <a:t>Cité Universitaire</a:t>
            </a:r>
          </a:p>
          <a:p>
            <a:pPr marL="0" indent="0">
              <a:buNone/>
            </a:pPr>
            <a:r>
              <a:rPr lang="fr-FR" dirty="0">
                <a:hlinkClick r:id="rId3"/>
              </a:rPr>
              <a:t>Résidences universitaires à Paris | Un campus international | CIUP</a:t>
            </a:r>
            <a:endParaRPr lang="fr-FR" dirty="0"/>
          </a:p>
          <a:p>
            <a:pPr>
              <a:buFont typeface="Wingdings" panose="05000000000000000000" pitchFamily="2" charset="2"/>
              <a:buChar char="Ø"/>
            </a:pPr>
            <a:r>
              <a:rPr lang="fr-FR" dirty="0"/>
              <a:t>The Cnam</a:t>
            </a:r>
          </a:p>
          <a:p>
            <a:pPr marL="0" indent="0">
              <a:buNone/>
            </a:pPr>
            <a:r>
              <a:rPr lang="en-US" dirty="0">
                <a:hlinkClick r:id="rId4"/>
              </a:rPr>
              <a:t>Finding accommodation in Paris | </a:t>
            </a:r>
            <a:r>
              <a:rPr lang="en-US" dirty="0" err="1">
                <a:hlinkClick r:id="rId4"/>
              </a:rPr>
              <a:t>Cnam</a:t>
            </a:r>
            <a:r>
              <a:rPr lang="en-US" dirty="0">
                <a:hlinkClick r:id="rId4"/>
              </a:rPr>
              <a:t> portal | </a:t>
            </a:r>
            <a:r>
              <a:rPr lang="en-US" dirty="0" err="1">
                <a:hlinkClick r:id="rId4"/>
              </a:rPr>
              <a:t>Cnam</a:t>
            </a:r>
            <a:endParaRPr lang="fr-FR" dirty="0"/>
          </a:p>
          <a:p>
            <a:pPr>
              <a:buFont typeface="Wingdings" panose="05000000000000000000" pitchFamily="2" charset="2"/>
              <a:buChar char="Ø"/>
              <a:defRPr sz="1800"/>
            </a:pPr>
            <a:r>
              <a:rPr lang="en-US" sz="2400" dirty="0"/>
              <a:t>Private studio: €700–1000/month (pap, seloger.com, real estates)</a:t>
            </a:r>
          </a:p>
          <a:p>
            <a:pPr marL="0" indent="0">
              <a:buNone/>
              <a:defRPr sz="1800"/>
            </a:pPr>
            <a:r>
              <a:rPr lang="en-US" dirty="0"/>
              <a:t> </a:t>
            </a:r>
          </a:p>
          <a:p>
            <a:pPr marL="0" indent="0">
              <a:buNone/>
              <a:defRPr sz="1800"/>
            </a:pPr>
            <a:r>
              <a:rPr lang="en-US" sz="2200" dirty="0"/>
              <a:t>Shared flats common (“colocation”)</a:t>
            </a:r>
          </a:p>
          <a:p>
            <a:pPr marL="0" indent="0">
              <a:buNone/>
              <a:defRPr sz="1800"/>
            </a:pPr>
            <a:endParaRPr lang="en-US" sz="2200" dirty="0"/>
          </a:p>
          <a:p>
            <a:pPr>
              <a:buFont typeface="Wingdings" panose="05000000000000000000" pitchFamily="2" charset="2"/>
              <a:buChar char="Ø"/>
              <a:defRPr sz="1800"/>
            </a:pPr>
            <a:r>
              <a:rPr lang="en-US" sz="2200" dirty="0"/>
              <a:t>CAF housing aid helps reduce rent</a:t>
            </a:r>
          </a:p>
          <a:p>
            <a:pPr marL="0" indent="0">
              <a:buNone/>
              <a:defRPr sz="1800"/>
            </a:pPr>
            <a:r>
              <a:rPr lang="fr-FR" sz="2400" dirty="0">
                <a:hlinkClick r:id="rId5"/>
              </a:rPr>
              <a:t>CAF - Page d'accueil Allocataires</a:t>
            </a:r>
            <a:endParaRPr lang="en-US" sz="2200" dirty="0"/>
          </a:p>
          <a:p>
            <a:pPr marL="0" indent="0">
              <a:buNone/>
            </a:pPr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D10B788-DC2E-1335-567C-AA64F4433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C078B-2535-4C48-A1AA-8B0D6C5E24B8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374677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E6E57B4-EBB1-2C4B-D0C1-244D7708E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000" dirty="0"/>
              <a:t>Life in Paris</a:t>
            </a:r>
            <a:br>
              <a:rPr lang="fr-FR" sz="2800" dirty="0"/>
            </a:br>
            <a:r>
              <a:rPr lang="fr-FR" sz="2800" dirty="0"/>
              <a:t>Healthcare &amp; Support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5D24CE6-DCB1-C39C-979D-F562CD8253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/>
          <a:lstStyle/>
          <a:p>
            <a:pPr marL="0" indent="0">
              <a:buNone/>
              <a:defRPr sz="1800"/>
            </a:pPr>
            <a:r>
              <a:rPr lang="en-US" sz="2400" dirty="0"/>
              <a:t>Free student health insurance (under conditions)</a:t>
            </a:r>
          </a:p>
          <a:p>
            <a:pPr marL="0" indent="0">
              <a:buNone/>
              <a:defRPr sz="1800"/>
            </a:pPr>
            <a:r>
              <a:rPr lang="fr-FR" sz="2400" dirty="0">
                <a:hlinkClick r:id="rId2"/>
              </a:rPr>
              <a:t>Vous êtes étudiant étranger et vous venez étudier en France | ameli.fr | Assuré</a:t>
            </a:r>
            <a:endParaRPr lang="en-US" sz="2400" dirty="0"/>
          </a:p>
          <a:p>
            <a:pPr marL="0" indent="0">
              <a:buNone/>
              <a:defRPr sz="1800"/>
            </a:pPr>
            <a:r>
              <a:rPr lang="en-US" sz="2400" dirty="0"/>
              <a:t>Access to French healthcare system</a:t>
            </a:r>
          </a:p>
          <a:p>
            <a:pPr marL="0" indent="0">
              <a:buNone/>
              <a:defRPr sz="1800"/>
            </a:pPr>
            <a:r>
              <a:rPr lang="fr-FR" sz="2400" dirty="0">
                <a:hlinkClick r:id="rId3"/>
              </a:rPr>
              <a:t>English pages | ameli.fr | Assuré</a:t>
            </a:r>
            <a:endParaRPr lang="en-US" sz="2400" dirty="0"/>
          </a:p>
          <a:p>
            <a:pPr marL="0" indent="0">
              <a:buNone/>
              <a:defRPr sz="1800"/>
            </a:pPr>
            <a:r>
              <a:rPr lang="en-US" sz="2400" dirty="0" err="1"/>
              <a:t>Cnam</a:t>
            </a:r>
            <a:r>
              <a:rPr lang="en-US" sz="2400" dirty="0"/>
              <a:t> support services for integration &amp; well-being</a:t>
            </a:r>
          </a:p>
          <a:p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BC47693-08B2-16C4-947F-1A5E7144E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C078B-2535-4C48-A1AA-8B0D6C5E24B8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2876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B06CC64-4634-B7F0-EB97-85435E3F5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000" dirty="0"/>
              <a:t>Life in Paris</a:t>
            </a:r>
            <a:br>
              <a:rPr lang="fr-FR" sz="3200" dirty="0"/>
            </a:br>
            <a:r>
              <a:rPr lang="fr-FR" sz="3200" dirty="0"/>
              <a:t>Transport &amp; Discounts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704345A-DA2D-A89F-C374-29A12F06CA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Imagine R pass: ~€350/year, unlimited travel (&lt; 26 years) (metros, buses, trams) RATP, </a:t>
            </a:r>
            <a:r>
              <a:rPr lang="en-US" dirty="0" err="1"/>
              <a:t>Sncf</a:t>
            </a:r>
            <a:r>
              <a:rPr lang="en-US" dirty="0"/>
              <a:t>, </a:t>
            </a:r>
            <a:r>
              <a:rPr lang="en-US" dirty="0" err="1"/>
              <a:t>Transilien</a:t>
            </a:r>
            <a:endParaRPr lang="fr-FR" dirty="0">
              <a:hlinkClick r:id="rId2"/>
            </a:endParaRPr>
          </a:p>
          <a:p>
            <a:pPr marL="0" indent="0">
              <a:buNone/>
            </a:pPr>
            <a:r>
              <a:rPr lang="fr-FR" dirty="0">
                <a:hlinkClick r:id="rId2"/>
              </a:rPr>
              <a:t>imagine R | Île-de-France Mobilités</a:t>
            </a:r>
            <a:endParaRPr lang="fr-FR" dirty="0"/>
          </a:p>
          <a:p>
            <a:pPr marL="0" indent="0">
              <a:buNone/>
            </a:pPr>
            <a:r>
              <a:rPr lang="fr-FR" dirty="0">
                <a:hlinkClick r:id="rId3"/>
              </a:rPr>
              <a:t>ZsdJ20aF0TcGJQtP_SITE_1360_largeur_imagearticle@2x.png (2721×3652)</a:t>
            </a:r>
            <a:endParaRPr lang="fr-FR" dirty="0"/>
          </a:p>
          <a:p>
            <a:pPr>
              <a:buFont typeface="Wingdings" panose="05000000000000000000" pitchFamily="2" charset="2"/>
              <a:buChar char="Ø"/>
            </a:pPr>
            <a:r>
              <a:rPr lang="fr-FR" dirty="0"/>
              <a:t>Navigo </a:t>
            </a:r>
            <a:r>
              <a:rPr lang="fr-FR" dirty="0" err="1"/>
              <a:t>pass</a:t>
            </a:r>
            <a:r>
              <a:rPr lang="fr-FR" dirty="0"/>
              <a:t> (&gt;26 </a:t>
            </a:r>
            <a:r>
              <a:rPr lang="fr-FR" dirty="0" err="1"/>
              <a:t>years</a:t>
            </a:r>
            <a:r>
              <a:rPr lang="fr-FR" dirty="0"/>
              <a:t>)</a:t>
            </a:r>
          </a:p>
          <a:p>
            <a:pPr marL="0" indent="0">
              <a:buNone/>
            </a:pPr>
            <a:r>
              <a:rPr lang="fr-FR" dirty="0">
                <a:hlinkClick r:id="rId4"/>
              </a:rPr>
              <a:t>Je gère ma carte Navigo | Île-de-France Mobilités</a:t>
            </a:r>
            <a:endParaRPr lang="fr-FR" dirty="0"/>
          </a:p>
          <a:p>
            <a:pPr>
              <a:buFont typeface="Wingdings" panose="05000000000000000000" pitchFamily="2" charset="2"/>
              <a:buChar char="Ø"/>
            </a:pPr>
            <a:r>
              <a:rPr lang="fr-FR" dirty="0"/>
              <a:t>Taxis (G7, Alpha, Parisien), Uber, Bold, </a:t>
            </a:r>
            <a:r>
              <a:rPr lang="fr-FR" dirty="0" err="1"/>
              <a:t>Vtc</a:t>
            </a:r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B0035BB-9AE6-E6D8-9419-16D298C87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C078B-2535-4C48-A1AA-8B0D6C5E24B8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737735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E9646B-4364-20C1-433C-C2CCC88FB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000" dirty="0"/>
              <a:t>Life in Paris</a:t>
            </a:r>
            <a:br>
              <a:rPr lang="fr-FR" sz="4000" dirty="0"/>
            </a:br>
            <a:r>
              <a:rPr lang="fr-FR" sz="3200" dirty="0"/>
              <a:t>Shops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B8CCAAD-DB5B-C766-B7B2-7A137BAAE0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/>
              <a:t>Carrefour, Monoprix, Franprix, Tang frère, Aldi, Action, Lidl, Auchan</a:t>
            </a:r>
          </a:p>
          <a:p>
            <a:pPr marL="0" indent="0">
              <a:buNone/>
            </a:pPr>
            <a:r>
              <a:rPr lang="fr-FR" dirty="0"/>
              <a:t>Boulanger, Darty</a:t>
            </a:r>
          </a:p>
          <a:p>
            <a:pPr marL="0" indent="0">
              <a:buNone/>
            </a:pPr>
            <a:r>
              <a:rPr lang="fr-FR" dirty="0"/>
              <a:t>Bricorama, Castorama, Leroy Merlin, Bhv, Ikea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 err="1"/>
              <a:t>Bookshops</a:t>
            </a:r>
            <a:r>
              <a:rPr lang="fr-FR" dirty="0"/>
              <a:t>, music, films: Gilbert, Fnac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134D929-D25A-DB51-FE86-A8FB4D518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C078B-2535-4C48-A1AA-8B0D6C5E24B8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947605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1E464D6-2CE8-8217-6AE8-2456FFF212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Social Life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C4C2CB3-F164-9DD8-4A0D-94E07B73B7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1215"/>
            <a:ext cx="10515600" cy="486574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fr-FR" dirty="0"/>
              <a:t>Bars, Bistros</a:t>
            </a:r>
          </a:p>
          <a:p>
            <a:pPr marL="0" indent="0">
              <a:buNone/>
            </a:pPr>
            <a:r>
              <a:rPr lang="fr-FR" dirty="0"/>
              <a:t>Restaurants (</a:t>
            </a:r>
            <a:r>
              <a:rPr lang="fr-FR" dirty="0" err="1"/>
              <a:t>e.g</a:t>
            </a:r>
            <a:r>
              <a:rPr lang="fr-FR" dirty="0"/>
              <a:t> </a:t>
            </a:r>
            <a:r>
              <a:rPr lang="fr-FR" dirty="0" err="1"/>
              <a:t>Drouant</a:t>
            </a:r>
            <a:r>
              <a:rPr lang="fr-FR" dirty="0"/>
              <a:t>, La Tour d’Argent, La closerie de Lilas, Le train Bleu) </a:t>
            </a:r>
          </a:p>
          <a:p>
            <a:pPr marL="0" indent="0">
              <a:buNone/>
            </a:pPr>
            <a:r>
              <a:rPr lang="fr-FR" dirty="0"/>
              <a:t>Café (e.g. Les deux Magots, Flore, Lipp)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 err="1"/>
              <a:t>Students</a:t>
            </a:r>
            <a:r>
              <a:rPr lang="fr-FR" dirty="0"/>
              <a:t>’ Restaurants (CROUS, Cité U, the Cnam – Paris, Landy)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French </a:t>
            </a:r>
            <a:r>
              <a:rPr lang="fr-FR" dirty="0" err="1"/>
              <a:t>Gastronomy</a:t>
            </a:r>
            <a:r>
              <a:rPr lang="fr-FR" dirty="0"/>
              <a:t>: </a:t>
            </a:r>
            <a:r>
              <a:rPr lang="fr-FR" dirty="0" err="1"/>
              <a:t>Wine</a:t>
            </a:r>
            <a:r>
              <a:rPr lang="fr-FR" dirty="0"/>
              <a:t>, </a:t>
            </a:r>
            <a:r>
              <a:rPr lang="fr-FR" dirty="0" err="1"/>
              <a:t>Cheese</a:t>
            </a:r>
            <a:r>
              <a:rPr lang="fr-FR" dirty="0"/>
              <a:t>, Good Food, </a:t>
            </a:r>
            <a:r>
              <a:rPr lang="fr-FR" dirty="0" err="1"/>
              <a:t>Pastries</a:t>
            </a:r>
            <a:r>
              <a:rPr lang="fr-FR" dirty="0"/>
              <a:t>, Cakes!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 err="1"/>
              <a:t>Foreign</a:t>
            </a:r>
            <a:r>
              <a:rPr lang="fr-FR" dirty="0"/>
              <a:t> Food in Paris (</a:t>
            </a:r>
            <a:r>
              <a:rPr lang="fr-FR" dirty="0" err="1"/>
              <a:t>Assian</a:t>
            </a:r>
            <a:r>
              <a:rPr lang="fr-FR" dirty="0"/>
              <a:t>, </a:t>
            </a:r>
            <a:r>
              <a:rPr lang="fr-FR" dirty="0" err="1"/>
              <a:t>African</a:t>
            </a:r>
            <a:r>
              <a:rPr lang="fr-FR" dirty="0"/>
              <a:t>, South American, </a:t>
            </a:r>
            <a:r>
              <a:rPr lang="fr-FR" dirty="0" err="1"/>
              <a:t>Eastern</a:t>
            </a:r>
            <a:r>
              <a:rPr lang="fr-FR" dirty="0"/>
              <a:t> </a:t>
            </a:r>
            <a:r>
              <a:rPr lang="fr-FR" dirty="0" err="1"/>
              <a:t>European</a:t>
            </a:r>
            <a:r>
              <a:rPr lang="fr-FR" dirty="0"/>
              <a:t> Food)! 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FE00201-3688-BFD3-D811-E707E951A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C078B-2535-4C48-A1AA-8B0D6C5E24B8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941227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054A6EE-7063-DDCB-1626-8D6DCDD8E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Cultural Life (</a:t>
            </a:r>
            <a:r>
              <a:rPr lang="fr-FR" dirty="0" err="1"/>
              <a:t>without</a:t>
            </a:r>
            <a:r>
              <a:rPr lang="fr-FR" dirty="0"/>
              <a:t> </a:t>
            </a:r>
            <a:r>
              <a:rPr lang="fr-FR" dirty="0" err="1"/>
              <a:t>museums</a:t>
            </a:r>
            <a:r>
              <a:rPr lang="fr-FR" dirty="0"/>
              <a:t> &amp; castels)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1721BD0-A096-D821-1830-7245085FA5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dirty="0"/>
              <a:t>Musical Life in Paris</a:t>
            </a:r>
          </a:p>
          <a:p>
            <a:pPr lvl="1"/>
            <a:r>
              <a:rPr lang="fr-FR" dirty="0"/>
              <a:t>Cité de la musique (</a:t>
            </a:r>
            <a:r>
              <a:rPr lang="fr-FR" dirty="0" err="1"/>
              <a:t>Philarmonie</a:t>
            </a:r>
            <a:r>
              <a:rPr lang="fr-FR" dirty="0"/>
              <a:t>)</a:t>
            </a:r>
          </a:p>
          <a:p>
            <a:pPr marL="0" indent="0">
              <a:buNone/>
            </a:pPr>
            <a:r>
              <a:rPr lang="fr-FR" dirty="0">
                <a:hlinkClick r:id="rId2"/>
              </a:rPr>
              <a:t>Page d'accueil | Philharmonie de Paris</a:t>
            </a:r>
            <a:endParaRPr lang="fr-FR" dirty="0"/>
          </a:p>
          <a:p>
            <a:pPr marL="0" indent="0">
              <a:buNone/>
            </a:pPr>
            <a:r>
              <a:rPr lang="fr-FR" dirty="0" err="1"/>
              <a:t>Operas</a:t>
            </a:r>
            <a:r>
              <a:rPr lang="fr-FR" dirty="0"/>
              <a:t> Bastille &amp; Garnier</a:t>
            </a:r>
          </a:p>
          <a:p>
            <a:pPr marL="0" indent="0">
              <a:buNone/>
            </a:pPr>
            <a:r>
              <a:rPr lang="fr-FR" dirty="0"/>
              <a:t>Concerts (e.g. Zenith, Olympia, Bercy Accor Arena)</a:t>
            </a:r>
          </a:p>
          <a:p>
            <a:pPr marL="0" indent="0">
              <a:buNone/>
            </a:pPr>
            <a:r>
              <a:rPr lang="fr-FR" dirty="0" err="1"/>
              <a:t>Theaters</a:t>
            </a:r>
            <a:r>
              <a:rPr lang="fr-FR" dirty="0"/>
              <a:t> (e.g. Chatelet, de la Ville, Champs Elysée, 13art)</a:t>
            </a:r>
          </a:p>
          <a:p>
            <a:pPr marL="0" indent="0">
              <a:buNone/>
            </a:pPr>
            <a:r>
              <a:rPr lang="fr-FR" dirty="0" err="1"/>
              <a:t>Cinemas</a:t>
            </a:r>
            <a:r>
              <a:rPr lang="fr-FR" dirty="0"/>
              <a:t> (e.g. UGC, Pathé, Mk2) 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>
                <a:hlinkClick r:id="rId3"/>
              </a:rPr>
              <a:t>Cinéma à Paris : horaires des séances • L'Officiel des spectacles</a:t>
            </a:r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5BEEDD6-2A47-5B47-3AC5-E3C27A897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C078B-2535-4C48-A1AA-8B0D6C5E24B8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738588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3FE07F4-4777-81B5-9373-E53304CE3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Emergency Numbers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799D532-23AC-A980-93AD-889B29BC4B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3962"/>
            <a:ext cx="10515600" cy="488300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If you witness or are the victim of an accident, here are the emergency numbers to use :</a:t>
            </a:r>
          </a:p>
          <a:p>
            <a:pPr marL="0" indent="0">
              <a:buNone/>
            </a:pPr>
            <a:r>
              <a:rPr lang="en-US" dirty="0"/>
              <a:t>SAMU (medical emergencies): </a:t>
            </a:r>
            <a:r>
              <a:rPr lang="en-US" b="1" dirty="0"/>
              <a:t>15 </a:t>
            </a:r>
            <a:r>
              <a:rPr lang="en-US" dirty="0"/>
              <a:t> </a:t>
            </a:r>
          </a:p>
          <a:p>
            <a:pPr marL="0" indent="0">
              <a:buNone/>
            </a:pPr>
            <a:r>
              <a:rPr lang="en-US" dirty="0"/>
              <a:t>Police emergency: </a:t>
            </a:r>
            <a:r>
              <a:rPr lang="en-US" b="1" dirty="0"/>
              <a:t>17  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Fire brigade: </a:t>
            </a:r>
            <a:r>
              <a:rPr lang="en-US" b="1" dirty="0"/>
              <a:t>18 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European emergency number: </a:t>
            </a:r>
            <a:r>
              <a:rPr lang="en-US" b="1" dirty="0"/>
              <a:t>112 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Emergency number for the deaf and hard of hearing: </a:t>
            </a:r>
            <a:r>
              <a:rPr lang="en-US" b="1" dirty="0"/>
              <a:t>114 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For emergencies at sea: </a:t>
            </a:r>
            <a:r>
              <a:rPr lang="en-US" b="1" dirty="0"/>
              <a:t>196</a:t>
            </a:r>
            <a:r>
              <a:rPr lang="en-US" dirty="0"/>
              <a:t> </a:t>
            </a:r>
          </a:p>
          <a:p>
            <a:pPr marL="0" indent="0">
              <a:buNone/>
            </a:pPr>
            <a:r>
              <a:rPr lang="en-US" dirty="0"/>
              <a:t>For aeronautical emergencies: </a:t>
            </a:r>
            <a:r>
              <a:rPr lang="en-US" b="1" dirty="0"/>
              <a:t>191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hlinkClick r:id="rId2"/>
              </a:rPr>
              <a:t>Emergency numbers: what you need to know</a:t>
            </a: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CAFCCEC-6919-92D8-CF0E-25FC89A04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C078B-2535-4C48-A1AA-8B0D6C5E24B8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871634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18139E7-D003-33ED-C5E4-82D0A9D71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err="1"/>
              <a:t>Visit</a:t>
            </a:r>
            <a:r>
              <a:rPr lang="fr-FR" dirty="0"/>
              <a:t> &amp; Explore France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5D535AA-ED1A-BA7D-68F6-8664AFD617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  <a:defRPr sz="1800"/>
            </a:pPr>
            <a:r>
              <a:rPr lang="en-US" sz="3600" dirty="0"/>
              <a:t>Weekend trips with low-cost transport (</a:t>
            </a:r>
            <a:r>
              <a:rPr lang="en-US" sz="3600" dirty="0" err="1"/>
              <a:t>Blabla</a:t>
            </a:r>
            <a:r>
              <a:rPr lang="en-US" sz="3600" dirty="0"/>
              <a:t> cars, Flixbus, </a:t>
            </a:r>
            <a:r>
              <a:rPr lang="en-US" sz="3600" dirty="0" err="1"/>
              <a:t>Sncf</a:t>
            </a:r>
            <a:r>
              <a:rPr lang="en-US" sz="3600" dirty="0"/>
              <a:t>, </a:t>
            </a:r>
            <a:r>
              <a:rPr lang="en-US" sz="3600" dirty="0" err="1"/>
              <a:t>easyjet</a:t>
            </a:r>
            <a:r>
              <a:rPr lang="en-US" sz="3600" dirty="0"/>
              <a:t>)</a:t>
            </a:r>
          </a:p>
          <a:p>
            <a:pPr marL="0" indent="0">
              <a:buNone/>
              <a:defRPr sz="1800"/>
            </a:pPr>
            <a:r>
              <a:rPr lang="en-US" sz="3600" dirty="0"/>
              <a:t>	Strasbourg (EU institutions)</a:t>
            </a:r>
          </a:p>
          <a:p>
            <a:pPr marL="0" indent="0">
              <a:buNone/>
              <a:defRPr sz="1800"/>
            </a:pPr>
            <a:r>
              <a:rPr lang="en-US" sz="3600" dirty="0"/>
              <a:t>	Nice (Mediterranean coast)</a:t>
            </a:r>
          </a:p>
          <a:p>
            <a:pPr marL="0" indent="0">
              <a:buNone/>
              <a:defRPr sz="1800"/>
            </a:pPr>
            <a:r>
              <a:rPr lang="en-US" sz="3600" dirty="0"/>
              <a:t>	Lyon (gastronomy)</a:t>
            </a:r>
          </a:p>
          <a:p>
            <a:pPr marL="0" indent="0">
              <a:buNone/>
              <a:defRPr sz="1800"/>
            </a:pPr>
            <a:r>
              <a:rPr lang="en-US" sz="3600" dirty="0"/>
              <a:t>	</a:t>
            </a:r>
            <a:r>
              <a:rPr lang="en-US" sz="3600" dirty="0" err="1"/>
              <a:t>Biaritz</a:t>
            </a:r>
            <a:r>
              <a:rPr lang="en-US" sz="3600" dirty="0"/>
              <a:t> &amp; St Jean de Luz (Ocean &amp; Surf)</a:t>
            </a:r>
          </a:p>
          <a:p>
            <a:pPr marL="0" indent="0">
              <a:buNone/>
              <a:defRPr sz="1800"/>
            </a:pPr>
            <a:r>
              <a:rPr lang="en-US" sz="3600" dirty="0"/>
              <a:t>	Ile de </a:t>
            </a:r>
            <a:r>
              <a:rPr lang="en-US" sz="3600" dirty="0" err="1"/>
              <a:t>Ré</a:t>
            </a:r>
            <a:r>
              <a:rPr lang="en-US" sz="3600" dirty="0"/>
              <a:t>, Ile de </a:t>
            </a:r>
            <a:r>
              <a:rPr lang="en-US" sz="3600" dirty="0" err="1"/>
              <a:t>Noirmoutier</a:t>
            </a:r>
            <a:r>
              <a:rPr lang="en-US" sz="3600" dirty="0"/>
              <a:t>!</a:t>
            </a:r>
          </a:p>
          <a:p>
            <a:pPr marL="0" indent="0">
              <a:buNone/>
              <a:defRPr sz="1800"/>
            </a:pPr>
            <a:endParaRPr lang="en-US" sz="3600" dirty="0"/>
          </a:p>
          <a:p>
            <a:pPr marL="0" indent="0">
              <a:buNone/>
            </a:pP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F78E378-F4A7-B336-D6D8-3C1DE9959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C078B-2535-4C48-A1AA-8B0D6C5E24B8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075730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6589B09-1A2A-BEAA-E900-9BB71DC9D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7609355-8488-40F8-D656-5F13AE9DF0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/>
              <a:t>			</a:t>
            </a:r>
            <a:r>
              <a:rPr lang="fr-FR" sz="4400" dirty="0" err="1"/>
              <a:t>Thank</a:t>
            </a:r>
            <a:r>
              <a:rPr lang="fr-FR" sz="4400" dirty="0"/>
              <a:t> </a:t>
            </a:r>
            <a:r>
              <a:rPr lang="fr-FR" sz="4400" dirty="0" err="1"/>
              <a:t>you</a:t>
            </a:r>
            <a:r>
              <a:rPr lang="fr-FR" sz="4400" dirty="0"/>
              <a:t> </a:t>
            </a:r>
            <a:r>
              <a:rPr lang="fr-FR" sz="4400" dirty="0" err="1"/>
              <a:t>very</a:t>
            </a:r>
            <a:r>
              <a:rPr lang="fr-FR" sz="4400" dirty="0"/>
              <a:t> </a:t>
            </a:r>
            <a:r>
              <a:rPr lang="fr-FR" sz="4400" dirty="0" err="1"/>
              <a:t>much</a:t>
            </a:r>
            <a:r>
              <a:rPr lang="fr-FR" sz="4400" dirty="0"/>
              <a:t>!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5E0C1D3-DF73-DD49-E66E-8DE23F752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C078B-2535-4C48-A1AA-8B0D6C5E24B8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9858947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1500</TotalTime>
  <Words>943</Words>
  <Application>Microsoft Office PowerPoint</Application>
  <PresentationFormat>Grand écran</PresentationFormat>
  <Paragraphs>147</Paragraphs>
  <Slides>15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Wingdings</vt:lpstr>
      <vt:lpstr>Thème Office</vt:lpstr>
      <vt:lpstr>French Life  International Master’s Students at the Cnam academic, cultural and social life</vt:lpstr>
      <vt:lpstr>Life in France Plan</vt:lpstr>
      <vt:lpstr>The Cnam Short presentation Accueil | Présentation | Cnam Conservatoire national des arts et métiers | Homepage | Cnam portal | Cnam Conservatoire national des arts et métiers | Accueil | Portail national | Cnam  </vt:lpstr>
      <vt:lpstr>  </vt:lpstr>
      <vt:lpstr>Life in Paris Libraries</vt:lpstr>
      <vt:lpstr>Life in Paris Museums</vt:lpstr>
      <vt:lpstr>Life in Paris Accomodation (Housing) &amp; Costs</vt:lpstr>
      <vt:lpstr>Life in Paris Healthcare &amp; Support</vt:lpstr>
      <vt:lpstr>Life in Paris Transport &amp; Discounts</vt:lpstr>
      <vt:lpstr>Life in Paris Shops</vt:lpstr>
      <vt:lpstr>Social Life</vt:lpstr>
      <vt:lpstr>Cultural Life (without museums &amp; castels)</vt:lpstr>
      <vt:lpstr>Emergency Numbers</vt:lpstr>
      <vt:lpstr>Visit &amp; Explore France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RUCART Amelia</dc:creator>
  <cp:lastModifiedBy>RUCART Amelia</cp:lastModifiedBy>
  <cp:revision>12</cp:revision>
  <dcterms:created xsi:type="dcterms:W3CDTF">2025-09-22T11:06:12Z</dcterms:created>
  <dcterms:modified xsi:type="dcterms:W3CDTF">2025-09-24T16:46:44Z</dcterms:modified>
</cp:coreProperties>
</file>